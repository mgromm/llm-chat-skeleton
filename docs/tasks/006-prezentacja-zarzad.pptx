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DECYZJA BUILD / BUY / HYBRYDA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Własne narzędzie czatowe AI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vs. subskrypcja Enterprise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Sales&amp;More · prezentacja dla zarządu · 21.09.2026</a:t>
            </a:r>
            <a:endParaRPr lang="en-US" sz="1400" dirty="0"/>
          </a:p>
        </p:txBody>
      </p:sp>
      <p:pic>
        <p:nvPicPr>
          <p:cNvPr id="6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685800"/>
            <a:ext cx="2377440" cy="3885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Czy budować własne narzędzie, czy kupić Enterprise?</a:t>
            </a:r>
            <a:endParaRPr lang="en-US" sz="2800" dirty="0"/>
          </a:p>
        </p:txBody>
      </p:sp>
      <p:pic>
        <p:nvPicPr>
          <p:cNvPr id="5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65760"/>
            <a:ext cx="1554480" cy="2540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5735" y="71124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21.09.2026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37865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" y="192024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Zespół 30–60 specjalistów codziennie korzysta z AI w pracy z klientami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" y="221284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Dziś decyzja o narzędziu jest podejmowana bez twardych danych o koszcie i jakości.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" y="329793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381121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335280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Trzy opcje na stole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364540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Zbudować własne narzędzie oparte o Claude (Anthropic), kupić subskrypcję enterprise (Claude/ChatGPT Enterprise), albo model hybrydowy — część miejsc enterprise, reszta na własnym narzędziu.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473049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524377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478536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Cel tego pilota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512" y="507796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Zmierzyć realny koszt/request, jakość odpowiedzi i poziom bezpieczeństwa danych własnego narzędzia, żeby decyzję podjąć na liczbach, nie na przeczuciu.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Co działa dziś</a:t>
            </a:r>
            <a:endParaRPr lang="en-US" sz="2800" dirty="0"/>
          </a:p>
        </p:txBody>
      </p:sp>
      <p:pic>
        <p:nvPicPr>
          <p:cNvPr id="5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65760"/>
            <a:ext cx="1554480" cy="2540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5735" y="71124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21.09.2026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26405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" y="192024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Czat z historią konwersacji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" y="221284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Rozmowy zapisane per użytkownik, z izolacją danych między klientami i zespołami.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" y="293979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333847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299466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Slash-komendy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328726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Gotowe, powtarzalne akcje specjalisty uruchamiane jedną komendą w czacie.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401421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441289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406908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Panel admina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512" y="436168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Zarządzanie użytkownikami, przypisania klient↔zespół, podgląd kosztów i jakości.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08863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548731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" y="514350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Generowanie artefaktów i sandbox do kodu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7512" y="543610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Eksport wyników do PPTX/XLSX oraz bezpieczne wykonywanie kodu (E2B) w ramach czatu.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BEZPIECZEŃSTWO I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Dane klientów są odizolowane i kontrolowane</a:t>
            </a:r>
            <a:endParaRPr lang="en-US" sz="2800" dirty="0"/>
          </a:p>
        </p:txBody>
      </p:sp>
      <p:pic>
        <p:nvPicPr>
          <p:cNvPr id="5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65760"/>
            <a:ext cx="1554480" cy="2540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5735" y="71124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21.09.2026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26405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" y="192024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Izolacja danych (Row-Level Security)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" y="221284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Zweryfikowane bezpośrednio na bazie: właściciel widzi tylko swoje konwersacje, brak kontekstu użytkownika = 0 wierszy, konto administratora widzi wszystko.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" y="293979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333847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299466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Pre-check danych wrażliwych (PII)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328726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Wiadomość jest sprawdzana pod kątem danych osobowych i wrażliwych zanim trafi do modelu — z progiem pewności i wymogiem zgody.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401421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441289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406908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Zgody klientów na przetwarzanie AI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512" y="436168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Przetwarzanie danych klienta przez AI wymaga jawnej zgody zapisanej w systemie, nie jest domyślne.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08863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5487314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" y="514350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Retencja konwersacji i pełny audit log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7512" y="5436108"/>
            <a:ext cx="11112703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Automatyczne czyszczenie starych konwersacji sterowane flagą (bez ryzyka przypadkowego skasowania), każdy dostęp do danych logowany w audit trail.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LICZBY Z PILOTA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Realne dane z produkcji (16–21.09.2026)</a:t>
            </a:r>
            <a:endParaRPr lang="en-US" sz="2800" dirty="0"/>
          </a:p>
        </p:txBody>
      </p:sp>
      <p:pic>
        <p:nvPicPr>
          <p:cNvPr id="5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65760"/>
            <a:ext cx="1554480" cy="2540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5735" y="71124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21.09.2026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057400"/>
            <a:ext cx="2670734" cy="1463040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2258568"/>
            <a:ext cx="23415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$0.0379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" y="2935224"/>
            <a:ext cx="234155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koszt / request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0814" y="2057400"/>
            <a:ext cx="2670734" cy="1463040"/>
          </a:xfrm>
          <a:prstGeom prst="rect">
            <a:avLst/>
          </a:prstGeom>
          <a:solidFill>
            <a:srgbClr val="F5F5FA"/>
          </a:solidFill>
          <a:ln/>
        </p:spPr>
      </p:sp>
      <p:sp>
        <p:nvSpPr>
          <p:cNvPr id="12" name="Text 9"/>
          <p:cNvSpPr/>
          <p:nvPr/>
        </p:nvSpPr>
        <p:spPr>
          <a:xfrm>
            <a:off x="3475406" y="2258568"/>
            <a:ext cx="23415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3.67 / 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475406" y="2935224"/>
            <a:ext cx="234155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średnia jakość odpowiedzi (ocena Claude Haiku jako sędzia)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0148" y="2057400"/>
            <a:ext cx="2670734" cy="1463040"/>
          </a:xfrm>
          <a:prstGeom prst="rect">
            <a:avLst/>
          </a:prstGeom>
          <a:solidFill>
            <a:srgbClr val="F5F5FA"/>
          </a:solidFill>
          <a:ln/>
        </p:spPr>
      </p:sp>
      <p:sp>
        <p:nvSpPr>
          <p:cNvPr id="15" name="Text 12"/>
          <p:cNvSpPr/>
          <p:nvPr/>
        </p:nvSpPr>
        <p:spPr>
          <a:xfrm>
            <a:off x="6374740" y="2258568"/>
            <a:ext cx="23415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~$1.36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74740" y="2935224"/>
            <a:ext cx="234155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koszt / użytkownika / miesiąc (ekstrapolacja z obecnego ruchu)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09481" y="2057400"/>
            <a:ext cx="2670734" cy="1463040"/>
          </a:xfrm>
          <a:prstGeom prst="rect">
            <a:avLst/>
          </a:prstGeom>
          <a:solidFill>
            <a:srgbClr val="F5F5FA"/>
          </a:solidFill>
          <a:ln/>
        </p:spPr>
      </p:sp>
      <p:sp>
        <p:nvSpPr>
          <p:cNvPr id="18" name="Text 15"/>
          <p:cNvSpPr/>
          <p:nvPr/>
        </p:nvSpPr>
        <p:spPr>
          <a:xfrm>
            <a:off x="9274073" y="2258568"/>
            <a:ext cx="234155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18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274073" y="2935224"/>
            <a:ext cx="234155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requestów w 5 dni ruchu testowego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148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Zastrzeżenie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11480" y="4160520"/>
            <a:ext cx="113687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 dane z bardzo małej próbki (18 requestów, 5 dni ruchu testowego, wyłącznie z kont administratorów), nie z realnego użycia całego zespołu. Pokazują rząd wielkości kosztu i jakości, nie docelowy koszt miesięczny zespołu 30–60 specjalistów. Do twardego porównania kosztowego z Enterprise potrzeba tygodni realnego ruchu zespołu.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PORÓWNANIE KOSZTÓW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Własne narzędzie vs. subskrypcja Enterprise</a:t>
            </a:r>
            <a:endParaRPr lang="en-US" sz="2800" dirty="0"/>
          </a:p>
        </p:txBody>
      </p:sp>
      <p:pic>
        <p:nvPicPr>
          <p:cNvPr id="5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65760"/>
            <a:ext cx="1554480" cy="2540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5735" y="71124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21.09.2026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uzupełnienia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423160"/>
            <a:ext cx="113687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Porównanie policzone automatycznie z rzeczywistego ruchu (endpoint /metrics/enterprise-comparison), ale wymaga dwóch liczb, których jeszcze nie mamy: ceny za miejsce Enterprise (Claude/ChatGPT Enterprise) i docelowej liczby miejsc.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338328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Metodyka (gotowa, czeka na dane)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4211726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397764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Nasz koszt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4270248"/>
            <a:ext cx="1111270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Suma rzeczywistego cost_usd z realnego ruchu zespołu za dany okres.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465429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4943246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470916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Koszt Enterprise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512" y="5001768"/>
            <a:ext cx="1111270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Liczba miejsc × cena za miejsce / miesiąc.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38581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5674766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" y="544068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7512" y="5733288"/>
            <a:ext cx="1111270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Prosta różnica — która opcja jest tańsza przy obecnym wolumenie ruchu.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REKOMENDACJA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Następne kroki</a:t>
            </a:r>
            <a:endParaRPr lang="en-US" sz="2800" dirty="0"/>
          </a:p>
        </p:txBody>
      </p:sp>
      <p:pic>
        <p:nvPicPr>
          <p:cNvPr id="5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65760"/>
            <a:ext cx="1554480" cy="2540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5735" y="71124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21.09.2026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37865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" y="192024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Kontynuacja pilota na realnym ruchu zespołu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" y="221284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Zebrać kilka tygodni danych z faktycznego użycia 30–60 specjalistów, nie tylko testów administratorów.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" y="329793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381121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335280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Wdrożenie na GCP + BigQuery (e2e)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364540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Czeka na przydzielenie projektu GCP — po tym możliwa pełna analityka kosztu/jakości w czasie.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473049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524377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478536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Decyzja build / buy / hybryda po zebraniu danych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512" y="507796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Z realnym wolumenem ruchu porównanie kosztowe z Enterprise będzie miarodajne, nie szacunkowe.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8502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 NA ŻYWO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7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Co zobaczymy za chwilę</a:t>
            </a:r>
            <a:endParaRPr lang="en-US" sz="2800" dirty="0"/>
          </a:p>
        </p:txBody>
      </p:sp>
      <p:pic>
        <p:nvPicPr>
          <p:cNvPr id="5" name="Image 0" descr="/Users/michalgrom/.claude/skills/salesmore-prezentacja/assets/logo-sales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65760"/>
            <a:ext cx="1554480" cy="2540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5735" y="71124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21.09.2026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237865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" y="192024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Czat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" y="221284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Rozmowa z historią, odpowiedź modelu z widocznym kosztem/jakością w tle.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" y="329793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381121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335280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Slash-komenda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" y="364540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Uruchomienie gotowej, powtarzalnej akcji specjalisty jedną komendą.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4730496"/>
            <a:ext cx="11368735" cy="0"/>
          </a:xfrm>
          <a:prstGeom prst="line">
            <a:avLst/>
          </a:prstGeom>
          <a:noFill/>
          <a:ln w="12700">
            <a:solidFill>
              <a:srgbClr val="EDED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5243779"/>
            <a:ext cx="82296" cy="82296"/>
          </a:xfrm>
          <a:prstGeom prst="rect">
            <a:avLst/>
          </a:prstGeom>
          <a:solidFill>
            <a:srgbClr val="F8502C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4785360"/>
            <a:ext cx="111127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7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Panel admina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512" y="5077968"/>
            <a:ext cx="11112703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37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Podgląd kosztów, jakości, przypisań klient↔zespół i audit logu.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2026-09-21T11:32:38Z</dcterms:created>
  <dcterms:modified xsi:type="dcterms:W3CDTF">2026-09-21T11:32:38Z</dcterms:modified>
</cp:coreProperties>
</file>